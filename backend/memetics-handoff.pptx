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Pjtf1WP3yisp51TjYWxMQcoJL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97280" y="1097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MONTH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97280" y="14173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8899AA"/>
                </a:solidFill>
                <a:latin typeface="Georgia"/>
                <a:ea typeface="Georgia"/>
                <a:cs typeface="Georgia"/>
                <a:sym typeface="Georgia"/>
              </a:rPr>
              <a:t>Memetic Signal Protocol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97280" y="182880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Reputation from coin predictions</a:t>
            </a: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Proof that cultural intuition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can be measured.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4389120" y="13716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F0C86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4937760" y="1097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MONTH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937760" y="14173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8899AA"/>
                </a:solidFill>
                <a:latin typeface="Georgia"/>
                <a:ea typeface="Georgia"/>
                <a:cs typeface="Georgia"/>
                <a:sym typeface="Georgia"/>
              </a:rPr>
              <a:t>Memetics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937760" y="182880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Holder commitment.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Proof that time in the market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is the truest signal.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097280" y="292608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Two Months.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Two Engines.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One Thread.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97280" y="44348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 handoff to Seacasa — February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5EC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1234440" y="54864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Month 1: The Signal Protocol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234440" y="960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August</a:t>
            </a: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solidFill>
            <a:srgbClr val="131F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31520" y="1463040"/>
            <a:ext cx="54864" cy="1463040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051560" y="157276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The thesis behind the Memetic Signal Protocol </a:t>
            </a:r>
            <a:r>
              <a:rPr lang="en-US" sz="12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was</a:t>
            </a:r>
            <a:r>
              <a:rPr b="0" i="0" lang="en-US" sz="12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 that cultural intuition — the gut feeling that drives crypto markets — could be cryptographically committed, time-scored, and accumulated into verifiable reputation.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51560" y="228600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Smart contract on Base. Exponential decay scoring. Farcaster-native identity.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Open source. MIT license. Deployed and functional.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31520" y="3246120"/>
            <a:ext cx="7680960" cy="1005840"/>
          </a:xfrm>
          <a:prstGeom prst="rect">
            <a:avLst/>
          </a:prstGeom>
          <a:solidFill>
            <a:srgbClr val="1A2A44"/>
          </a:solidFill>
          <a:ln>
            <a:noFill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31520" y="3246120"/>
            <a:ext cx="54864" cy="1005840"/>
          </a:xfrm>
          <a:prstGeom prst="rect">
            <a:avLst/>
          </a:prstGeom>
          <a:solidFill>
            <a:srgbClr val="5EC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051560" y="33375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THE THREAD THAT CARRIED FORWARD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51560" y="3639312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E8E8E8"/>
                </a:solidFill>
                <a:latin typeface="Georgia"/>
                <a:ea typeface="Georgia"/>
                <a:cs typeface="Georgia"/>
                <a:sym typeface="Georgia"/>
              </a:rPr>
              <a:t>Time is the signal that can't be faked. MSP scored predictions by temporal precision. Memetics scores holders by temporal commitment. The same principle, applied to a different question.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31520" y="46177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Full whitepaper: Memetic Signal Protocol Technical Whitepaper, September 8,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1234440" y="54864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 Received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234440" y="960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The Jungle Bay Island vision — 10 documents, one philosophy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31520" y="1463040"/>
            <a:ext cx="7680960" cy="960120"/>
          </a:xfrm>
          <a:prstGeom prst="rect">
            <a:avLst/>
          </a:prstGeom>
          <a:solidFill>
            <a:srgbClr val="131F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31520" y="1463040"/>
            <a:ext cx="54864" cy="960120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051560" y="1554480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F0C866"/>
                </a:solidFill>
                <a:latin typeface="Georgia"/>
                <a:ea typeface="Georgia"/>
                <a:cs typeface="Georgia"/>
                <a:sym typeface="Georgia"/>
              </a:rPr>
              <a:t>"Memes fail because momentum dissipates, not because creativity fails.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F0C866"/>
                </a:solidFill>
                <a:latin typeface="Georgia"/>
                <a:ea typeface="Georgia"/>
                <a:cs typeface="Georgia"/>
                <a:sym typeface="Georgia"/>
              </a:rPr>
              <a:t>Jungle Bay solves this by providing continuity."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31520" y="2651760"/>
            <a:ext cx="3703320" cy="4114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868680" y="2688336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Strategy Doctrine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68680" y="2871216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Core beliefs and design invariants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709160" y="2651760"/>
            <a:ext cx="3703320" cy="4114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846320" y="2688336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Phase 1 Vision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846320" y="2871216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Establishing ground, not growth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31520" y="3154680"/>
            <a:ext cx="3703320" cy="4114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68680" y="3191256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Bungalows Concept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68680" y="3374136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Territories, not profiles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709160" y="3154680"/>
            <a:ext cx="3703320" cy="4114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846320" y="3191256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Spatial 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846320" y="3374136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Zones organized by memetic force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31520" y="3657600"/>
            <a:ext cx="3703320" cy="4114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68680" y="3694176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Home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68680" y="3877056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12 seeded projects with intent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709160" y="3657600"/>
            <a:ext cx="3703320" cy="4114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846320" y="3694176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Atmosphere Spec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846320" y="3877056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Time-based aging, not leveling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31520" y="4160520"/>
            <a:ext cx="3703320" cy="4114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868680" y="4197096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Build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68680" y="4379976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Routes, schema, constraints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09160" y="4160520"/>
            <a:ext cx="3703320" cy="41148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846320" y="4197096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Implementation Spec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846320" y="4379976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Technical foundation for Phase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 vision built on restraint. No leaderboards. No engagement mining. No urgency. Silence as participation.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1234440" y="54864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 Built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234440" y="960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memetics.lat — live </a:t>
            </a: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and working with</a:t>
            </a: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 Base and Solana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31520" y="1417320"/>
            <a:ext cx="7680960" cy="1051560"/>
          </a:xfrm>
          <a:prstGeom prst="rect">
            <a:avLst/>
          </a:prstGeom>
          <a:solidFill>
            <a:srgbClr val="131F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005840" y="1508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THE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005840" y="178308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Heat = 100 × (1 − e^(−60 × TWAB / totalSupply))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005840" y="21031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Time-Weighted Average Balance. Can't be gamed by buying big right before checking. Time in the market is the variable that matters.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31520" y="2743200"/>
            <a:ext cx="3703320" cy="914400"/>
          </a:xfrm>
          <a:prstGeom prst="rect">
            <a:avLst/>
          </a:prstGeom>
          <a:solidFill>
            <a:srgbClr val="1A2A44"/>
          </a:solidFill>
          <a:ln>
            <a:noFill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31520" y="2743200"/>
            <a:ext cx="54864" cy="914400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914400" y="2852928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1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 CHAINS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14400" y="3127248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Base, Solana</a:t>
            </a: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. They drive culture.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Full Transfer event scanning.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709160" y="2743200"/>
            <a:ext cx="3703320" cy="914400"/>
          </a:xfrm>
          <a:prstGeom prst="rect">
            <a:avLst/>
          </a:prstGeom>
          <a:solidFill>
            <a:srgbClr val="1A2A44"/>
          </a:solidFill>
          <a:ln>
            <a:noFill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709160" y="2743200"/>
            <a:ext cx="54864" cy="914400"/>
          </a:xfrm>
          <a:prstGeom prst="rect">
            <a:avLst/>
          </a:prstGeom>
          <a:solidFill>
            <a:srgbClr val="5EC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892040" y="2852928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4 DEPENDENCIES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892040" y="3127248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Hono, Jose, Postgres, Viem.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Zero frontend framework.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31520" y="3840480"/>
            <a:ext cx="3703200" cy="914400"/>
          </a:xfrm>
          <a:prstGeom prst="rect">
            <a:avLst/>
          </a:prstGeom>
          <a:solidFill>
            <a:srgbClr val="1A2A44"/>
          </a:solidFill>
          <a:ln>
            <a:noFill/>
          </a:ln>
          <a:effectLst>
            <a:outerShdw blurRad="50800" rotWithShape="0" algn="bl" dir="81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31520" y="3840480"/>
            <a:ext cx="54900" cy="914400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914400" y="3950208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FARCASTER </a:t>
            </a:r>
            <a:r>
              <a:rPr b="1" i="0" lang="en-US" sz="11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NATIVE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14400" y="4224528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Miniapp with manifest, SDK,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dynamic OG images.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709160" y="3840480"/>
            <a:ext cx="3703320" cy="914400"/>
          </a:xfrm>
          <a:prstGeom prst="rect">
            <a:avLst/>
          </a:prstGeom>
          <a:solidFill>
            <a:srgbClr val="1A2A44"/>
          </a:solidFill>
          <a:ln>
            <a:noFill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709160" y="3840480"/>
            <a:ext cx="54864" cy="914400"/>
          </a:xfrm>
          <a:prstGeom prst="rect">
            <a:avLst/>
          </a:prstGeom>
          <a:solidFill>
            <a:srgbClr val="5EC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892040" y="3950208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AGENT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892040" y="4224528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Openclaw agents</a:t>
            </a: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 can register, scan,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and deploy custom bungalows.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1234440" y="54864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Honest Gap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234440" y="960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Where the vision and the build diverged — and why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31520" y="1463040"/>
            <a:ext cx="3703320" cy="2651760"/>
          </a:xfrm>
          <a:prstGeom prst="rect">
            <a:avLst/>
          </a:prstGeom>
          <a:solidFill>
            <a:srgbClr val="131F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31520" y="1463040"/>
            <a:ext cx="54864" cy="2651760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005840" y="157276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THE VISION SAID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005840" y="192024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Heat is invisible — never a leaderboard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Bungalows are places, not analytics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No public metrics or competition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Silence is participation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No engagement mechanics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Spatial zones organized by memetic force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709160" y="1463040"/>
            <a:ext cx="3703320" cy="2651760"/>
          </a:xfrm>
          <a:prstGeom prst="rect">
            <a:avLst/>
          </a:prstGeom>
          <a:solidFill>
            <a:srgbClr val="131F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709160" y="1463040"/>
            <a:ext cx="54864" cy="2651760"/>
          </a:xfrm>
          <a:prstGeom prst="rect">
            <a:avLst/>
          </a:prstGeom>
          <a:solidFill>
            <a:srgbClr val="5EC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983480" y="157276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THE BUILD CHOSE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983480" y="192024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Public heat scores </a:t>
            </a:r>
            <a:r>
              <a:rPr lang="en-US" sz="10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on the bungalow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older tables for compari</a:t>
            </a:r>
            <a:r>
              <a:rPr lang="en-US" sz="1000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son on a leaderboard fashion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Pay-per-scan transactional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Flat directory, no spatial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31520" y="4343400"/>
            <a:ext cx="7680960" cy="59436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005840" y="4407408"/>
            <a:ext cx="7223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E8E8E8"/>
                </a:solidFill>
                <a:latin typeface="Georgia"/>
                <a:ea typeface="Georgia"/>
                <a:cs typeface="Georgia"/>
                <a:sym typeface="Georgia"/>
              </a:rPr>
              <a:t>I couldn't see how to make the vision into a product without giving users something to do and something to pay for. So I built the closest working thing I could. The engine is right. The surfaces are scaffolding.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1234440" y="54864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The Engine Proves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234440" y="960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The hard part is done. Everything in the vision depends on this.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solidFill>
            <a:srgbClr val="131F33"/>
          </a:solidFill>
          <a:ln>
            <a:noFill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731520" y="1417320"/>
            <a:ext cx="54864" cy="914400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051560" y="149047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TIME-WEIGHTED COMMITMENT IS MEASURABLE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51560" y="173736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The TWAB formula converts raw Transfer events into a single number that captures how long a holder has been aligned with a token. Not how much they hold — how long they've held. This is the signal the vision calls Heat.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131F33"/>
          </a:solidFill>
          <a:ln>
            <a:noFill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31520" y="2468880"/>
            <a:ext cx="54864" cy="914400"/>
          </a:xfrm>
          <a:prstGeom prst="rect">
            <a:avLst/>
          </a:prstGeom>
          <a:solidFill>
            <a:srgbClr val="5EC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051560" y="254203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IT WORKS ACROSS CHAINS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51560" y="278892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Base and Solana tokens all can be scanned through the same pipeline. Wallets across chains link to a single identity. The multi-chain infrastructure that Jungle Bay Island would need already exists.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solidFill>
            <a:srgbClr val="131F33"/>
          </a:solidFill>
          <a:ln>
            <a:noFill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731520" y="3520440"/>
            <a:ext cx="54864" cy="914400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051560" y="359359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IT'S BUILT TO LAST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051560" y="384048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4 production dependencies. Server-rendered HTML. No framework churn. No build step. This codebase can run for years without maintenance debt accumulating. The vision values persistence — so does the stack.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8899AA"/>
                </a:solidFill>
                <a:latin typeface="Georgia"/>
                <a:ea typeface="Georgia"/>
                <a:cs typeface="Georgia"/>
                <a:sym typeface="Georgia"/>
              </a:rPr>
              <a:t>The next </a:t>
            </a:r>
            <a:r>
              <a:rPr i="1" lang="en-US" sz="1000">
                <a:solidFill>
                  <a:srgbClr val="8899AA"/>
                </a:solidFill>
                <a:latin typeface="Georgia"/>
                <a:ea typeface="Georgia"/>
                <a:cs typeface="Georgia"/>
                <a:sym typeface="Georgia"/>
              </a:rPr>
              <a:t>iteration of this</a:t>
            </a:r>
            <a:r>
              <a:rPr b="0" i="1" lang="en-US" sz="1000" u="none" cap="none" strike="noStrike">
                <a:solidFill>
                  <a:srgbClr val="8899AA"/>
                </a:solidFill>
                <a:latin typeface="Georgia"/>
                <a:ea typeface="Georgia"/>
                <a:cs typeface="Georgia"/>
                <a:sym typeface="Georgia"/>
              </a:rPr>
              <a:t> has the measurement layer </a:t>
            </a:r>
            <a:r>
              <a:rPr i="1" lang="en-US" sz="1000">
                <a:solidFill>
                  <a:srgbClr val="8899AA"/>
                </a:solidFill>
                <a:latin typeface="Georgia"/>
                <a:ea typeface="Georgia"/>
                <a:cs typeface="Georgia"/>
                <a:sym typeface="Georgia"/>
              </a:rPr>
              <a:t>ready</a:t>
            </a:r>
            <a:r>
              <a:rPr b="0" i="1" lang="en-US" sz="1000" u="none" cap="none" strike="noStrike">
                <a:solidFill>
                  <a:srgbClr val="8899AA"/>
                </a:solidFill>
                <a:latin typeface="Georgia"/>
                <a:ea typeface="Georgia"/>
                <a:cs typeface="Georgia"/>
                <a:sym typeface="Georgia"/>
              </a:rPr>
              <a:t>. They can focus entirely on the experience.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1234440" y="54864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Where This Wants To Go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234440" y="960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The convergence of product logic and philosophical vision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31520" y="1417320"/>
            <a:ext cx="7680960" cy="1097280"/>
          </a:xfrm>
          <a:prstGeom prst="rect">
            <a:avLst/>
          </a:prstGeom>
          <a:solidFill>
            <a:srgbClr val="131F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731520" y="1417320"/>
            <a:ext cx="54864" cy="1097280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051560" y="1508760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BUNGALOWS AS CANONICAL HOMES FOR MEME PROJECTS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051560" y="1810512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Where does a meme project live today? A Telegram that gets spammed. A Discord that dies. A Twitter that gets shadowbanned. There is no durable, on-chain-verified home. That's what the Island provides — and heat is the credibility signal that makes it trustworthy.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31520" y="2788920"/>
            <a:ext cx="7680960" cy="50292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31520" y="2788920"/>
            <a:ext cx="54864" cy="502920"/>
          </a:xfrm>
          <a:prstGeom prst="rect">
            <a:avLst/>
          </a:prstGeom>
          <a:solidFill>
            <a:srgbClr val="5EC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051560" y="2862072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NOW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691640" y="2843784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engine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691640" y="304495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TWAB scanning, multi-chain, heat calculation, claiming, curation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31520" y="3355848"/>
            <a:ext cx="7680960" cy="50292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31520" y="3355848"/>
            <a:ext cx="54864" cy="502920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051560" y="34290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691640" y="3410712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Resurface heat as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691640" y="3611880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Stop displaying numbers. Let heat shape how a bungalow feels — visual weight, density, atmosphere. BUT HOW?</a:t>
            </a:r>
            <a:endParaRPr sz="95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31520" y="3922776"/>
            <a:ext cx="7680960" cy="50292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731520" y="3922776"/>
            <a:ext cx="54864" cy="502920"/>
          </a:xfrm>
          <a:prstGeom prst="rect">
            <a:avLst/>
          </a:prstGeom>
          <a:solidFill>
            <a:srgbClr val="5EC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051560" y="399592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691640" y="39776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Spatial organization by culture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691640" y="4178808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Tokens arranged by memetic force, not market cap. The zone system the vision describes, powered by real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731520" y="4489704"/>
            <a:ext cx="7680960" cy="50292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731520" y="4489704"/>
            <a:ext cx="54864" cy="502920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1051560" y="4562856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0C866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691640" y="454456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Projects pay for persistence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691640" y="474573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Residency fees for canonical territory. Revenue from staying, not from attention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0C8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9144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1280160" y="914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Thread Continues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31520" y="1600200"/>
            <a:ext cx="7680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400"/>
              <a:buFont typeface="Georgia"/>
              <a:buNone/>
            </a:pPr>
            <a:r>
              <a:rPr lang="en-US">
                <a:solidFill>
                  <a:srgbClr val="E8E8E8"/>
                </a:solidFill>
                <a:latin typeface="Georgia"/>
                <a:ea typeface="Georgia"/>
                <a:cs typeface="Georgia"/>
                <a:sym typeface="Georgia"/>
              </a:rPr>
              <a:t>Six</a:t>
            </a:r>
            <a:r>
              <a:rPr b="0" i="0" lang="en-US" sz="1400" u="none" cap="none" strike="noStrike">
                <a:solidFill>
                  <a:srgbClr val="E8E8E8"/>
                </a:solidFill>
                <a:latin typeface="Georgia"/>
                <a:ea typeface="Georgia"/>
                <a:cs typeface="Georgia"/>
                <a:sym typeface="Georgia"/>
              </a:rPr>
              <a:t> months ago you gave me a question: </a:t>
            </a:r>
            <a:r>
              <a:rPr b="0" i="1" lang="en-US" sz="1400" u="none" cap="none" strike="noStrike">
                <a:solidFill>
                  <a:srgbClr val="F0C866"/>
                </a:solidFill>
                <a:latin typeface="Georgia"/>
                <a:ea typeface="Georgia"/>
                <a:cs typeface="Georgia"/>
                <a:sym typeface="Georgia"/>
              </a:rPr>
              <a:t>can cultural intuition be measured?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E8E8E8"/>
                </a:solidFill>
                <a:latin typeface="Georgia"/>
                <a:ea typeface="Georgia"/>
                <a:cs typeface="Georgia"/>
                <a:sym typeface="Georgia"/>
              </a:rPr>
              <a:t>MSP answered it for predictions. Memetics answered it for commitment.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E8E8E8"/>
                </a:solidFill>
                <a:latin typeface="Georgia"/>
                <a:ea typeface="Georgia"/>
                <a:cs typeface="Georgia"/>
                <a:sym typeface="Georgia"/>
              </a:rPr>
              <a:t>The formula changed. The principle didn't.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31520" y="3017520"/>
            <a:ext cx="7680960" cy="1234440"/>
          </a:xfrm>
          <a:prstGeom prst="rect">
            <a:avLst/>
          </a:prstGeom>
          <a:solidFill>
            <a:srgbClr val="131F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731520" y="3017520"/>
            <a:ext cx="54864" cy="1234440"/>
          </a:xfrm>
          <a:prstGeom prst="rect">
            <a:avLst/>
          </a:prstGeom>
          <a:solidFill>
            <a:srgbClr val="5EC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051560" y="310896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CFC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CFCF"/>
                </a:solidFill>
                <a:latin typeface="Consolas"/>
                <a:ea typeface="Consolas"/>
                <a:cs typeface="Consolas"/>
                <a:sym typeface="Consolas"/>
              </a:rPr>
              <a:t>WHAT I'M LEAVING BEHIND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051560" y="3401568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A working engine that measures what the Island needs to measure. A product surface that proved the engine works. A clear path from here to the vision you wrote — where heat becomes invisible, bungalows become places, and the Island becomes somewhere memes can actually stay.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F0C866"/>
                </a:solidFill>
                <a:latin typeface="Georgia"/>
                <a:ea typeface="Georgia"/>
                <a:cs typeface="Georgia"/>
                <a:sym typeface="Georgia"/>
              </a:rPr>
              <a:t>The Island should feel like a place you'd want to stay.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C866"/>
              </a:buClr>
              <a:buSzPts val="1300"/>
              <a:buFont typeface="Georgia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5EC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2026-02-23T15:46:23Z</dcterms:created>
  <dc:creator>Jorge Pablo Franetovic</dc:creator>
</cp:coreProperties>
</file>